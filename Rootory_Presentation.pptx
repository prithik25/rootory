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4114800" cy="384048"/>
          </a:xfrm>
          <a:prstGeom prst="roundRect">
            <a:avLst/>
          </a:prstGeom>
          <a:solidFill>
            <a:srgbClr val="24544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D8F3DC"/>
                </a:solidFill>
                <a:latin typeface="Calibri"/>
              </a:rPr>
              <a:t>BIT N BUILD 2026  |  TRACK 3: JAN JEEVAN</a:t>
            </a:r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123444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  <a:latin typeface="Calibri"/>
              </a:defRPr>
            </a:pPr>
            <a:r>
              <a:t>Rootory</a:t>
            </a:r>
          </a:p>
          <a:p>
            <a:pPr>
              <a:spcBef>
                <a:spcPts val="200"/>
              </a:spcBef>
              <a:defRPr sz="2000">
                <a:solidFill>
                  <a:srgbClr val="52B788"/>
                </a:solidFill>
                <a:latin typeface="Calibri"/>
              </a:defRPr>
            </a:pPr>
            <a:r>
              <a:t>Track Growth. Share Knowledge. Connect to Markets.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069848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10149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52B788"/>
                </a:solidFill>
                <a:latin typeface="Calibri"/>
              </a:defRPr>
            </a:pPr>
            <a:r>
              <a:t>ONE-LINE PROJECT SUMMARY</a:t>
            </a:r>
          </a:p>
          <a:p>
            <a:pPr>
              <a:spcBef>
                <a:spcPts val="400"/>
              </a:spcBef>
              <a:defRPr sz="1450">
                <a:solidFill>
                  <a:srgbClr val="FFFFFF"/>
                </a:solidFill>
                <a:latin typeface="Calibri"/>
              </a:defRPr>
            </a:pPr>
            <a:r>
              <a:t>An offline-first, all-in-one agricultural platform connecting plant-care history, AI-assisted crop health observations with strict agronomist safety guardrails, geofenced disease alerts, and direct-to-grower local market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621792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5760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52B788"/>
                </a:solidFill>
                <a:latin typeface="Calibri"/>
              </a:defRPr>
            </a:pPr>
            <a:r>
              <a:t>TEAM MÁXIMO_CLAUDIUS</a:t>
            </a:r>
          </a:p>
          <a:p>
            <a:pPr>
              <a:spcBef>
                <a:spcPts val="400"/>
              </a:spcBef>
              <a:defRPr b="1" sz="1350">
                <a:solidFill>
                  <a:srgbClr val="FFFFFF"/>
                </a:solidFill>
                <a:latin typeface="Calibri"/>
              </a:defRPr>
            </a:pPr>
            <a:r>
              <a:t>1) Prithik Fernandes   |   2) Sanvi Naik Gaonkar   |   3) Sharya Mahambre</a:t>
            </a:r>
          </a:p>
          <a:p>
            <a:pPr>
              <a:spcBef>
                <a:spcPts val="300"/>
              </a:spcBef>
              <a:defRPr sz="1100">
                <a:solidFill>
                  <a:srgbClr val="D8F3DC"/>
                </a:solidFill>
                <a:latin typeface="Calibri"/>
              </a:defRPr>
            </a:pPr>
            <a:r>
              <a:t>Focus: Jan Jeevan — Rural Livelihoods, Smallholder Productivity &amp; Sustainable 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4709160"/>
            <a:ext cx="4297680" cy="1508760"/>
          </a:xfrm>
          <a:prstGeom prst="roundRect">
            <a:avLst/>
          </a:prstGeom>
          <a:solidFill>
            <a:srgbClr val="1F4D3E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4846320"/>
            <a:ext cx="3840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52B788"/>
                </a:solidFill>
                <a:latin typeface="Calibri"/>
              </a:defRPr>
            </a:pPr>
            <a:r>
              <a:t>LIVE DEPLOYMENT &amp; REPOSITORY</a:t>
            </a:r>
          </a:p>
          <a:p>
            <a:pPr>
              <a:spcBef>
                <a:spcPts val="400"/>
              </a:spcBef>
              <a:defRPr b="1" sz="1400">
                <a:solidFill>
                  <a:srgbClr val="FFFFFF"/>
                </a:solidFill>
                <a:latin typeface="Calibri"/>
              </a:defRPr>
            </a:pPr>
            <a:r>
              <a:t>rootory-seven.vercel.app</a:t>
            </a:r>
          </a:p>
          <a:p>
            <a:pPr>
              <a:spcBef>
                <a:spcPts val="300"/>
              </a:spcBef>
              <a:defRPr sz="1200">
                <a:solidFill>
                  <a:srgbClr val="D8F3DC"/>
                </a:solidFill>
                <a:latin typeface="Calibri"/>
              </a:defRPr>
            </a:pPr>
            <a:r>
              <a:t>github.com/prithik25/Rootory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The Fragmentation Dilemma in Smallholder Agriculture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Small growers and home gardeners lose up to 35% of crop yields and 40% of economic margin due to disconnected tools.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WHO IS AFFECTED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Smallholder Farmers &amp; Home Cultivators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100M+ Small Growers: </a:t>
            </a:r>
            <a:r>
              <a:t>Marginal farmers (&lt;2 hectares) and peri-urban gardeners who lack access to professional agronomists.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Fragmented Information: </a:t>
            </a:r>
            <a:r>
              <a:t>Crucial records are scattered across paper diaries, unorganized messaging groups, and generic weather apps.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Fragile Offline Connectivity: </a:t>
            </a:r>
            <a:r>
              <a:t>Existing digital agri-tools depend on continuous high-speed internet, failing growers in remote farm plots.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Isolated Operations: </a:t>
            </a:r>
            <a:r>
              <a:t>Growers work in geographic silos without access to nearby peer intelligence or disease warnings.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Severe Economic &amp; Yield Penalties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Care Amnesia: </a:t>
            </a:r>
            <a:r>
              <a:t>Growers forget fertilizer cycles and moisture schedules, resulting in stunted harvests and soil degradation.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Delayed Outbreak Response: </a:t>
            </a:r>
            <a:r>
              <a:t>Crop pests and foliar diseases (e.g. early blight, mildew) are identified too late, wiping out entire crops.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Middlemen Exploitation: </a:t>
            </a:r>
            <a:r>
              <a:t>Small growers forfeit 30-40% of their produce value to middlemen because they lack hyper-local buyer visibility.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Distrust in AI Chatbots: </a:t>
            </a:r>
            <a:r>
              <a:t>Generic AI tools give confident but hallucinated diagnoses without mentioning uncertainties or referral centers.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OBSERVATIONS &amp; EVIDENCE</a:t>
            </a:r>
          </a:p>
          <a:p>
            <a:pPr>
              <a:spcBef>
                <a:spcPts val="400"/>
              </a:spcBef>
              <a:defRPr b="1" sz="1500">
                <a:solidFill>
                  <a:srgbClr val="1C2826"/>
                </a:solidFill>
              </a:defRPr>
            </a:pPr>
            <a:r>
              <a:t>Field Realities in Jan Jeevan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30% Preventable Loss: </a:t>
            </a:r>
            <a:r>
              <a:t>Studies show nearly a third of smallholder losses are preventable with timely moisture management and leaf inspection.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Information Asymmetry: </a:t>
            </a:r>
            <a:r>
              <a:t>Disease outbreaks reported in one village cluster (e.g., Tiswadi) rarely reach growers 8 km away in time.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High Desire for Local Trade: </a:t>
            </a:r>
            <a:r>
              <a:t>Urban consumers actively seek pesticide-free terrace produce, yet have no platform to discover neighborhood growers.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Hardware Gap: </a:t>
            </a:r>
            <a:r>
              <a:t>Commercial precision sensors cost thousands of rupees, putting IoT irrigation out of reach for smallholders.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2.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Rootory: The Unified Ecosystem for Informed Cultivation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An integrated, accessible platform connecting plant diaries, AI symptom checks, crop safety alerts, and local trade.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Visual Care Diaries &amp; Smart Reminders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Maintains complete visual history of every crop (stage, soil mix, container). Automates timely care reminders (moisture checks, organic tea feeds, harvesting) to eliminate care amnesia.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AI-Assisted Plant Check with Guardrails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Multi-angle vision diagnostics powered by Gemini 3 Flash. Delivers structured symptom cards with visible signs, probable causes, transparent uncertainties, and direct Krishi Vigyan Kendra (KVK) referral.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CropSafety Geofenced Outbreak Alerts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Enables growers to submit disease observations. Features an administrator review queue to eliminate panics, and uses Leaflet map pinning with Haversine nearest-hub distance calculation.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886200"/>
            <a:ext cx="51663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06908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50">
                <a:solidFill>
                  <a:srgbClr val="183E32"/>
                </a:solidFill>
              </a:defRPr>
            </a:pPr>
            <a:r>
              <a:t>Direct Peer-to-Peer Local Marketplace</a:t>
            </a:r>
          </a:p>
          <a:p>
            <a:pPr>
              <a:spcBef>
                <a:spcPts val="400"/>
              </a:spcBef>
              <a:defRPr sz="1150">
                <a:solidFill>
                  <a:srgbClr val="5C6B5E"/>
                </a:solidFill>
              </a:defRPr>
            </a:pPr>
            <a:r>
              <a:t>Facilitates local trading of fresh chemical-free produce and starter supplies (neem cake, seeds, starter pots) with private buyer-seller enquiries — eliminating middlemen completely.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698480" cy="502920"/>
          </a:xfrm>
          <a:prstGeom prst="roundRect">
            <a:avLst/>
          </a:prstGeom>
          <a:solidFill>
            <a:srgbClr val="18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100">
                <a:solidFill>
                  <a:srgbClr val="D8F3DC"/>
                </a:solidFill>
              </a:rPr>
              <a:t>GROWER USER FLOW:   1. Onboard Crop  ➔  2. Receive Daily Care/Weather Tasks  ➔  3. Scan Anomalies via AI  ➔  4. Get Geofenced Alerts  ➔  5. Trade on Marketplace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3. TECHNOLOGY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Resilient, Offline-First &amp; Scalable Architecture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Architected for high reliability on edge devices, zero-bandwidth farm plots, and deterministic data flow.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FRONTEND &amp; OFFLINE PWA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Next.js 16 + React 19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Turbopack Engine: </a:t>
            </a:r>
            <a:r>
              <a:t>Sub-second production build and instant edge rendering.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Offline Service Worker: </a:t>
            </a:r>
            <a:r>
              <a:t>Pre-caches shell and critical assets (v4 cache invalidation).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IndexedDB Engine: </a:t>
            </a:r>
            <a:r>
              <a:t>100% full local client operation when cellular network is unavailable.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Custom Semantic Tokens: </a:t>
            </a:r>
            <a:r>
              <a:t>High-contrast daylight theme tailored for bright outdoor sunlight.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1024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BACKEND &amp; CLOUD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Supabase + PostgreSQL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Row Level Security: </a:t>
            </a:r>
            <a:r>
              <a:t>Strict cryptographic tenant boundary keeping personal gardens private.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Optimistic Concurrency: </a:t>
            </a:r>
            <a:r>
              <a:t>RPC save_garden with revision locks prevents race conditions.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Supabase Storage: </a:t>
            </a:r>
            <a:r>
              <a:t>Encrypted photo storage with deduplication and 2 MB limits.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Cloud State Sync: </a:t>
            </a:r>
            <a:r>
              <a:t>Chained promise queue ensures local-first edits sync safely to cloud.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AI DIAGNOSTICS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Gemini 3 Multimodal Vision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Gemini Vision 3.6: </a:t>
            </a:r>
            <a:r>
              <a:t>High-resolution foliar analysis recognizing complex visual patterns.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Sharp Preprocessing: </a:t>
            </a:r>
            <a:r>
              <a:t>Resizes and compresses images to WebP to minimize mobile bandwidth.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Zod Schema Enforcement: </a:t>
            </a:r>
            <a:r>
              <a:t>Strict schema guarantees structured outputs without hallucination.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Responsible AI: </a:t>
            </a:r>
            <a:r>
              <a:t>Strictly educational observations with explicit uncertainty and KVK referrals.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737360"/>
            <a:ext cx="248716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1920240"/>
            <a:ext cx="215798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D6A4F"/>
                </a:solidFill>
              </a:defRPr>
            </a:pPr>
            <a:r>
              <a:t>HARDWARE &amp; GEOSPATIAL</a:t>
            </a:r>
          </a:p>
          <a:p>
            <a:pPr>
              <a:spcBef>
                <a:spcPts val="300"/>
              </a:spcBef>
              <a:defRPr b="1" sz="1300">
                <a:solidFill>
                  <a:srgbClr val="183E32"/>
                </a:solidFill>
              </a:defRPr>
            </a:pPr>
            <a:r>
              <a:t>IoT Sensors &amp; Leaflet Maps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Edge Telemetry Endpoint: </a:t>
            </a:r>
            <a:r>
              <a:t>/api/iot/moisture ingests real-time soil data with device-key auth.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Wokwi Simulation: </a:t>
            </a:r>
            <a:r>
              <a:t>Full ESP32 capacitance hardware simulation in virtual environment.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Interactive Leaflet Map: </a:t>
            </a:r>
            <a:r>
              <a:t>Custom sprout pin, click-to-pin, drag, and live reverse geocoding.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Haversine Proximity: </a:t>
            </a:r>
            <a:r>
              <a:t>Calculates nearest agricultural hubs for accurate regional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4. FEASIBILITY, SCALABILITY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Viability Today, Scalability Tomorrow, Tangible Impact for Jan Jeevan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Engineered for economic practicality, horizontal cloud scalability, and measurable rural outcomes.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PRACTICAL FEASIBILITY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Zero-Friction Adoption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Zero Installation Barrier: </a:t>
            </a:r>
            <a:r>
              <a:t>Instant PWA install from browser; runs smoothly on budget Android &amp; iOS phones with under 200 KB shell size.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Zero Internet Vulnerability: </a:t>
            </a:r>
            <a:r>
              <a:t>Core care tracker and diary work 100% offline via IndexedDB, syncing only when cellular signal returns.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Minimal Operational Overhead: </a:t>
            </a:r>
            <a:r>
              <a:t>Built on serverless edge functions and cached open meteorological APIs (Open-Meteo), costing nearly zero to run at baseline.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Intuitive Local UX: </a:t>
            </a:r>
            <a:r>
              <a:t>1-tap Indian agricultural hub chips (Goa Velha, Batim, Pune, Nashik) eliminate manual GPS coordinate typing.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HORIZONTAL SCALABILITY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Architected for 100,000+ Growers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Client-Side Compute: </a:t>
            </a:r>
            <a:r>
              <a:t>90% of state updates and rendering happen on-device, drastically reducing cloud server workload and API costs.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Stateless Edge Architecture: </a:t>
            </a:r>
            <a:r>
              <a:t>Next.js edge serverless functions handle API requests independently across global edge datacenters.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Optimized Database Footprint: </a:t>
            </a:r>
            <a:r>
              <a:t>PostgreSQL connection pooling and optimistic document revisions prevent database deadlocks.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Modular Micro-Services: </a:t>
            </a:r>
            <a:r>
              <a:t>IoT telemetry, AI vision diagnostics, and marketplace sync operate as decoupled serverless endpoints.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36499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29992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JAN JEEVAN IMPACT</a:t>
            </a:r>
          </a:p>
          <a:p>
            <a:pPr>
              <a:spcBef>
                <a:spcPts val="400"/>
              </a:spcBef>
              <a:defRPr b="1" sz="1500">
                <a:solidFill>
                  <a:srgbClr val="183E32"/>
                </a:solidFill>
              </a:defRPr>
            </a:pPr>
            <a:r>
              <a:t>Measurable Agrarian Outcomes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25-35% Reduction in Crop Loss: </a:t>
            </a:r>
            <a:r>
              <a:t>Timely disease detection and real-time weather advisories prevent irreversible blight and moisture damage.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Up to 40% Margin Boost: </a:t>
            </a:r>
            <a:r>
              <a:t>Connecting growers directly with local consumers and nurseries eliminates middleman commissions.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Chemical-Free Agriculture: </a:t>
            </a:r>
            <a:r>
              <a:t>Community knowledge sharing promotes bio-fertilizers (neem cake), companion planting, and natural sprays.</a:t>
            </a:r>
          </a:p>
          <a:p>
            <a:pPr>
              <a:spcBef>
                <a:spcPts val="800"/>
              </a:spcBef>
              <a:defRPr sz="115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• Democratized Expertise: </a:t>
            </a:r>
            <a:r>
              <a:t>Bridges the gap between veteran agronomists and first-time growers across rural and urban communities.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200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1" sz="1000">
                <a:solidFill>
                  <a:srgbClr val="183E32"/>
                </a:solidFill>
                <a:latin typeface="Calibri"/>
              </a:rPr>
              <a:t>5. PROTOTYPE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2200">
                <a:solidFill>
                  <a:srgbClr val="183E32"/>
                </a:solidFill>
                <a:latin typeface="Calibri"/>
              </a:defRPr>
            </a:pPr>
            <a:r>
              <a:t>Production Prototype Evidence &amp; Strategic Roadmap</a:t>
            </a:r>
          </a:p>
          <a:p>
            <a:pPr>
              <a:spcBef>
                <a:spcPts val="300"/>
              </a:spcBef>
              <a:defRPr sz="1250">
                <a:solidFill>
                  <a:srgbClr val="5C6B5E"/>
                </a:solidFill>
                <a:latin typeface="Calibri"/>
              </a:defRPr>
            </a:pPr>
            <a:r>
              <a:t>Fully deployed and verifiable live application, supported by a structured roadmap for long-term growth.</a:t>
            </a:r>
          </a:p>
        </p:txBody>
      </p:sp>
      <p:pic>
        <p:nvPicPr>
          <p:cNvPr id="5" name="Picture 4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384048"/>
            <a:ext cx="594360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24160" y="9875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2D6A4F"/>
                </a:solidFill>
                <a:latin typeface="Calibri"/>
              </a:rPr>
              <a:t>rootory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41148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749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VERIFIED PROTOTYPE</a:t>
            </a:r>
          </a:p>
          <a:p>
            <a:pPr>
              <a:spcBef>
                <a:spcPts val="300"/>
              </a:spcBef>
              <a:defRPr b="1" sz="1500">
                <a:solidFill>
                  <a:srgbClr val="183E32"/>
                </a:solidFill>
              </a:defRPr>
            </a:pPr>
            <a:r>
              <a:t>Deployed &amp; Testable Today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Live Web App: </a:t>
            </a:r>
            <a:r>
              <a:t>rootory-seven.vercel.app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Judge Login: </a:t>
            </a:r>
            <a:r>
              <a:t>demo@rootory.example | 123456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Pre-Seeded Data: </a:t>
            </a:r>
            <a:r>
              <a:t>3 plants, 8 logs, AI observation card, 5 tasks, 5 posts, 6 listings.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16/16 Unit Tests: </a:t>
            </a:r>
            <a:r>
              <a:t>100% passing across domain, sensor, cloud &amp; services.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Turbopack Build: </a:t>
            </a:r>
            <a:r>
              <a:t>Compiles in &lt;1 second with zero TypeScript errors.</a:t>
            </a:r>
          </a:p>
          <a:p>
            <a:pPr>
              <a:spcBef>
                <a:spcPts val="6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✓ Open Source: </a:t>
            </a:r>
            <a:r>
              <a:t>github.com/prithik25/Rootory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3736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183E32"/>
                </a:solidFill>
              </a:rPr>
              <a:t>SCAN TO TEST LIVE
</a:t>
            </a:r>
            <a:r>
              <a:rPr sz="950">
                <a:solidFill>
                  <a:srgbClr val="5C6B5E"/>
                </a:solidFill>
              </a:rPr>
              <a:t>Open on your smartphone camera</a:t>
            </a:r>
          </a:p>
        </p:txBody>
      </p:sp>
      <p:pic>
        <p:nvPicPr>
          <p:cNvPr id="11" name="Picture 10" descr="rootory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788920"/>
            <a:ext cx="1828800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20640" y="47548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2D6A4F"/>
                </a:solidFill>
              </a:rPr>
              <a:t>rootory-seven.vercel.app
</a:t>
            </a:r>
            <a:r>
              <a:rPr sz="1000">
                <a:solidFill>
                  <a:srgbClr val="1C2826"/>
                </a:solidFill>
              </a:rPr>
              <a:t>• Instant PWA Install
• 100% Offline Ready
• Pre-Loaded Demo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37360"/>
            <a:ext cx="3794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E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D6A4F"/>
                </a:solidFill>
              </a:defRPr>
            </a:pPr>
            <a:r>
              <a:t>STRATEGIC ROADMAP</a:t>
            </a:r>
          </a:p>
          <a:p>
            <a:pPr>
              <a:spcBef>
                <a:spcPts val="300"/>
              </a:spcBef>
              <a:defRPr b="1" sz="1500">
                <a:solidFill>
                  <a:srgbClr val="183E32"/>
                </a:solidFill>
              </a:defRPr>
            </a:pPr>
            <a:r>
              <a:t>Future Scope Beyond Demo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Indic Voice UI: </a:t>
            </a:r>
            <a:r>
              <a:t>Voice input in Konkani, Marathi &amp; Hindi for non-literate farmers.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P2P Mesh Alerts: </a:t>
            </a:r>
            <a:r>
              <a:t>BLE &amp; WiFi-Direct crop disease alert sharing across remote fields.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FPO Logistics: </a:t>
            </a:r>
            <a:r>
              <a:t>Shared transport pooling for Farmer Producer Organizations.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IoT Drip Control: </a:t>
            </a:r>
            <a:r>
              <a:t>Automated MQTT solenoid valve triggers from soil moisture.</a:t>
            </a:r>
          </a:p>
          <a:p>
            <a:pPr>
              <a:spcBef>
                <a:spcPts val="700"/>
              </a:spcBef>
              <a:defRPr sz="1100">
                <a:solidFill>
                  <a:srgbClr val="5C6B5E"/>
                </a:solidFill>
              </a:defRPr>
            </a:pPr>
            <a:r>
              <a:rPr b="1">
                <a:solidFill>
                  <a:srgbClr val="1C2826"/>
                </a:solidFill>
              </a:rPr>
              <a:t>➔ Soil Carbon Data: </a:t>
            </a:r>
            <a:r>
              <a:t>Long-term soil health analysis for regenerative carbon credits.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